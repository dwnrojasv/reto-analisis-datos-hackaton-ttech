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44" r:id="rId1"/>
    <p:sldMasterId id="2147483864" r:id="rId2"/>
    <p:sldMasterId id="2147483876" r:id="rId3"/>
  </p:sldMasterIdLst>
  <p:notesMasterIdLst>
    <p:notesMasterId r:id="rId15"/>
  </p:notesMasterIdLst>
  <p:sldIdLst>
    <p:sldId id="360" r:id="rId4"/>
    <p:sldId id="367" r:id="rId5"/>
    <p:sldId id="368" r:id="rId6"/>
    <p:sldId id="370" r:id="rId7"/>
    <p:sldId id="375" r:id="rId8"/>
    <p:sldId id="376" r:id="rId9"/>
    <p:sldId id="372" r:id="rId10"/>
    <p:sldId id="371" r:id="rId11"/>
    <p:sldId id="373" r:id="rId12"/>
    <p:sldId id="374" r:id="rId13"/>
    <p:sldId id="361" r:id="rId14"/>
  </p:sldIdLst>
  <p:sldSz cx="14630400" cy="8229600"/>
  <p:notesSz cx="8229600" cy="14630400"/>
  <p:embeddedFontLst>
    <p:embeddedFont>
      <p:font typeface="Abadi Extra Light" panose="020B0204020104020204" pitchFamily="34" charset="0"/>
      <p:regular r:id="rId16"/>
    </p:embeddedFont>
    <p:embeddedFont>
      <p:font typeface="Aptos" panose="020B0004020202020204" pitchFamily="34" charset="0"/>
      <p:regular r:id="rId17"/>
      <p:bold r:id="rId18"/>
      <p:italic r:id="rId19"/>
      <p:boldItalic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alibri Light" panose="020F0302020204030204" pitchFamily="34" charset="0"/>
      <p:regular r:id="rId25"/>
      <p:italic r:id="rId26"/>
    </p:embeddedFont>
    <p:embeddedFont>
      <p:font typeface="Century Gothic" panose="020B0502020202020204" pitchFamily="34" charset="0"/>
      <p:regular r:id="rId27"/>
      <p:bold r:id="rId28"/>
      <p:italic r:id="rId29"/>
      <p:boldItalic r:id="rId30"/>
    </p:embeddedFont>
    <p:embeddedFont>
      <p:font typeface="Roboto Black" panose="02000000000000000000" pitchFamily="2" charset="0"/>
      <p:bold r:id="rId31"/>
      <p:boldItalic r:id="rId3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46F890A9-2807-4EBB-B81D-B2AA78EC7F39}" styleName="Estilo oscuro 2 - Énfasis 5/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4C1A8A3-306A-4EB7-A6B1-4F7E0EB9C5D6}" styleName="Estilo medio 3 - Énfasis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38B1855-1B75-4FBE-930C-398BA8C253C6}" styleName="Estilo temático 2 - Énfasis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Estilo medio 1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775DCB02-9BB8-47FD-8907-85C794F793BA}" styleName="Estilo temático 1 - Énfasi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30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6.fntdata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heme" Target="theme/theme1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3578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96758-EC46-B19D-00CE-5480846A5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CEB212-EDAB-23D0-484F-D9418A2FAE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EA60BB-06C4-2EF2-D5C3-1BDB7483BC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D39EA9-8D74-6015-7819-D11EF8AB3F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32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8F649-88E8-9AB5-7B18-AD660C1EB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EE93FA-91A1-9FC3-C084-DE8CCCE76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6704E4-B56A-716A-AAE2-E73CD6A11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5A72CC-6979-32D9-077C-4DFF79B483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575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8F649-88E8-9AB5-7B18-AD660C1EB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EE93FA-91A1-9FC3-C084-DE8CCCE76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6704E4-B56A-716A-AAE2-E73CD6A11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5A72CC-6979-32D9-077C-4DFF79B483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185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8F649-88E8-9AB5-7B18-AD660C1EB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EE93FA-91A1-9FC3-C084-DE8CCCE76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6704E4-B56A-716A-AAE2-E73CD6A11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5A72CC-6979-32D9-077C-4DFF79B483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22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8F649-88E8-9AB5-7B18-AD660C1EB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EE93FA-91A1-9FC3-C084-DE8CCCE76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6704E4-B56A-716A-AAE2-E73CD6A11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5A72CC-6979-32D9-077C-4DFF79B483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7577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8F649-88E8-9AB5-7B18-AD660C1EB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EE93FA-91A1-9FC3-C084-DE8CCCE76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6704E4-B56A-716A-AAE2-E73CD6A11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5A72CC-6979-32D9-077C-4DFF79B483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1953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8F649-88E8-9AB5-7B18-AD660C1EB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EE93FA-91A1-9FC3-C084-DE8CCCE76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6704E4-B56A-716A-AAE2-E73CD6A11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5A72CC-6979-32D9-077C-4DFF79B483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7089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8F649-88E8-9AB5-7B18-AD660C1EB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EE93FA-91A1-9FC3-C084-DE8CCCE76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6704E4-B56A-716A-AAE2-E73CD6A11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5A72CC-6979-32D9-077C-4DFF79B483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9337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8F649-88E8-9AB5-7B18-AD660C1EB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EE93FA-91A1-9FC3-C084-DE8CCCE76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6704E4-B56A-716A-AAE2-E73CD6A11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5A72CC-6979-32D9-077C-4DFF79B483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602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01215" y="731521"/>
            <a:ext cx="10411466" cy="3840480"/>
          </a:xfrm>
        </p:spPr>
        <p:txBody>
          <a:bodyPr anchor="b">
            <a:normAutofit/>
          </a:bodyPr>
          <a:lstStyle>
            <a:lvl1pPr algn="ctr">
              <a:defRPr sz="576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01215" y="4663440"/>
            <a:ext cx="10411466" cy="2286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52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48640"/>
            <a:fld id="{89098821-91B7-F645-934B-B1319F67721E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548640"/>
              <a:t>26/07/2025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48640"/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48640"/>
            <a:fld id="{18B8A8C8-E6A7-8849-A80F-5F415A81324A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 defTabSz="548640"/>
              <a:t>‹Nº›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6893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48640"/>
            <a:fld id="{89098821-91B7-F645-934B-B1319F67721E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548640"/>
              <a:t>26/07/2025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48640"/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48640"/>
            <a:fld id="{18B8A8C8-E6A7-8849-A80F-5F415A81324A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 defTabSz="548640"/>
              <a:t>‹Nº›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7272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1216" y="3970297"/>
            <a:ext cx="10424160" cy="1762560"/>
          </a:xfrm>
        </p:spPr>
        <p:txBody>
          <a:bodyPr anchor="b"/>
          <a:lstStyle>
            <a:lvl1pPr algn="r">
              <a:defRPr sz="48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1214" y="5732857"/>
            <a:ext cx="10424161" cy="1032480"/>
          </a:xfrm>
        </p:spPr>
        <p:txBody>
          <a:bodyPr anchor="t">
            <a:normAutofit/>
          </a:bodyPr>
          <a:lstStyle>
            <a:lvl1pPr marL="0" indent="0" algn="r">
              <a:buNone/>
              <a:defRPr sz="24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48640"/>
            <a:fld id="{89098821-91B7-F645-934B-B1319F67721E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548640"/>
              <a:t>26/07/2025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48640"/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48640"/>
            <a:fld id="{18B8A8C8-E6A7-8849-A80F-5F415A81324A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 defTabSz="548640"/>
              <a:t>‹Nº›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125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69694" y="3200400"/>
            <a:ext cx="5852160" cy="3749041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4734" y="3200400"/>
            <a:ext cx="5852160" cy="3749040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48640"/>
            <a:fld id="{89098821-91B7-F645-934B-B1319F67721E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548640"/>
              <a:t>26/07/2025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48640"/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48640"/>
            <a:fld id="{18B8A8C8-E6A7-8849-A80F-5F415A81324A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 defTabSz="548640"/>
              <a:t>‹Nº›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8714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5137" y="3190240"/>
            <a:ext cx="5506717" cy="691514"/>
          </a:xfrm>
        </p:spPr>
        <p:txBody>
          <a:bodyPr anchor="b">
            <a:noAutofit/>
          </a:bodyPr>
          <a:lstStyle>
            <a:lvl1pPr marL="0" indent="0">
              <a:buNone/>
              <a:defRPr sz="336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9694" y="3891915"/>
            <a:ext cx="5852160" cy="3057524"/>
          </a:xfrm>
        </p:spPr>
        <p:txBody>
          <a:bodyPr anchor="t"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731760" y="3200400"/>
            <a:ext cx="5525136" cy="691514"/>
          </a:xfrm>
        </p:spPr>
        <p:txBody>
          <a:bodyPr anchor="b">
            <a:noAutofit/>
          </a:bodyPr>
          <a:lstStyle>
            <a:lvl1pPr marL="0" indent="0">
              <a:buNone/>
              <a:defRPr sz="336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4735" y="3891915"/>
            <a:ext cx="5852161" cy="3057524"/>
          </a:xfrm>
        </p:spPr>
        <p:txBody>
          <a:bodyPr anchor="t"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48640"/>
            <a:fld id="{89098821-91B7-F645-934B-B1319F67721E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548640"/>
              <a:t>26/07/2025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48640"/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48640"/>
            <a:fld id="{18B8A8C8-E6A7-8849-A80F-5F415A81324A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 defTabSz="548640"/>
              <a:t>‹Nº›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9720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48640"/>
            <a:fld id="{89098821-91B7-F645-934B-B1319F67721E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548640"/>
              <a:t>26/07/2025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48640"/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48640"/>
            <a:fld id="{18B8A8C8-E6A7-8849-A80F-5F415A81324A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 defTabSz="548640"/>
              <a:t>‹Nº›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9215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48640"/>
            <a:fld id="{89098821-91B7-F645-934B-B1319F67721E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548640"/>
              <a:t>26/07/2025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48640"/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48640"/>
            <a:fld id="{18B8A8C8-E6A7-8849-A80F-5F415A81324A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 defTabSz="548640"/>
              <a:t>‹Nº›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870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694" y="1920240"/>
            <a:ext cx="4258945" cy="1645920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4575" y="731521"/>
            <a:ext cx="7132321" cy="6217920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9694" y="3566160"/>
            <a:ext cx="4258945" cy="2194560"/>
          </a:xfrm>
        </p:spPr>
        <p:txBody>
          <a:bodyPr>
            <a:normAutofit/>
          </a:bodyPr>
          <a:lstStyle>
            <a:lvl1pPr marL="0" indent="0">
              <a:buNone/>
              <a:defRPr sz="192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48640"/>
            <a:fld id="{89098821-91B7-F645-934B-B1319F67721E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548640"/>
              <a:t>26/07/2025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48640"/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48640"/>
            <a:fld id="{18B8A8C8-E6A7-8849-A80F-5F415A81324A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 defTabSz="548640"/>
              <a:t>‹Nº›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6065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694" y="1920240"/>
            <a:ext cx="6400801" cy="1645920"/>
          </a:xfrm>
        </p:spPr>
        <p:txBody>
          <a:bodyPr anchor="b">
            <a:normAutofit/>
          </a:bodyPr>
          <a:lstStyle>
            <a:lvl1pPr algn="l">
              <a:defRPr sz="336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920480" y="-21946"/>
            <a:ext cx="3931919" cy="8284464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9694" y="3566160"/>
            <a:ext cx="6400801" cy="2194560"/>
          </a:xfrm>
        </p:spPr>
        <p:txBody>
          <a:bodyPr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9054" y="7059931"/>
            <a:ext cx="1097280" cy="438150"/>
          </a:xfrm>
        </p:spPr>
        <p:txBody>
          <a:bodyPr/>
          <a:lstStyle/>
          <a:p>
            <a:pPr defTabSz="548640"/>
            <a:fld id="{89098821-91B7-F645-934B-B1319F67721E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548640"/>
              <a:t>26/07/2025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69694" y="7059931"/>
            <a:ext cx="6126480" cy="438150"/>
          </a:xfrm>
        </p:spPr>
        <p:txBody>
          <a:bodyPr/>
          <a:lstStyle/>
          <a:p>
            <a:pPr defTabSz="548640"/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2891135" y="7059931"/>
            <a:ext cx="387080" cy="438150"/>
          </a:xfrm>
        </p:spPr>
        <p:txBody>
          <a:bodyPr/>
          <a:lstStyle/>
          <a:p>
            <a:pPr defTabSz="548640"/>
            <a:fld id="{18B8A8C8-E6A7-8849-A80F-5F415A81324A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 defTabSz="548640"/>
              <a:t>‹Nº›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6887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696" y="5679438"/>
            <a:ext cx="11887200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75534" y="1118535"/>
            <a:ext cx="9871133" cy="379797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9696" y="6359524"/>
            <a:ext cx="11887200" cy="592454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48640"/>
            <a:fld id="{89098821-91B7-F645-934B-B1319F67721E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548640"/>
              <a:t>26/07/2025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48640"/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48640"/>
            <a:fld id="{18B8A8C8-E6A7-8849-A80F-5F415A81324A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 defTabSz="548640"/>
              <a:t>‹Nº›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0454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695" y="731522"/>
            <a:ext cx="11887199" cy="3749039"/>
          </a:xfrm>
        </p:spPr>
        <p:txBody>
          <a:bodyPr anchor="ctr">
            <a:normAutofit/>
          </a:bodyPr>
          <a:lstStyle>
            <a:lvl1pPr algn="l">
              <a:defRPr sz="384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9693" y="5212080"/>
            <a:ext cx="11887200" cy="1737360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48640"/>
            <a:fld id="{89098821-91B7-F645-934B-B1319F67721E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548640"/>
              <a:t>26/07/2025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48640"/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48640"/>
            <a:fld id="{18B8A8C8-E6A7-8849-A80F-5F415A81324A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 defTabSz="548640"/>
              <a:t>‹Nº›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607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003934" y="944189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96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5374" y="3291840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731522"/>
            <a:ext cx="11155678" cy="3291839"/>
          </a:xfrm>
        </p:spPr>
        <p:txBody>
          <a:bodyPr anchor="ctr">
            <a:normAutofit/>
          </a:bodyPr>
          <a:lstStyle>
            <a:lvl1pPr algn="l">
              <a:defRPr sz="384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09775" y="4023360"/>
            <a:ext cx="10607042" cy="4572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9693" y="5212080"/>
            <a:ext cx="11887200" cy="173736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4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48640"/>
            <a:fld id="{89098821-91B7-F645-934B-B1319F67721E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548640"/>
              <a:t>26/07/2025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48640"/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48640"/>
            <a:fld id="{18B8A8C8-E6A7-8849-A80F-5F415A81324A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 defTabSz="548640"/>
              <a:t>‹Nº›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276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694" y="3970297"/>
            <a:ext cx="11887200" cy="1762560"/>
          </a:xfrm>
        </p:spPr>
        <p:txBody>
          <a:bodyPr anchor="b">
            <a:normAutofit/>
          </a:bodyPr>
          <a:lstStyle>
            <a:lvl1pPr algn="l">
              <a:defRPr sz="384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9693" y="5732857"/>
            <a:ext cx="11887201" cy="10324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4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48640"/>
            <a:fld id="{89098821-91B7-F645-934B-B1319F67721E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548640"/>
              <a:t>26/07/2025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48640"/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48640"/>
            <a:fld id="{18B8A8C8-E6A7-8849-A80F-5F415A81324A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 defTabSz="548640"/>
              <a:t>‹Nº›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3723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003934" y="944189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96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5374" y="3291840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731522"/>
            <a:ext cx="11155678" cy="3291839"/>
          </a:xfrm>
        </p:spPr>
        <p:txBody>
          <a:bodyPr anchor="ctr">
            <a:normAutofit/>
          </a:bodyPr>
          <a:lstStyle>
            <a:lvl1pPr algn="l">
              <a:defRPr sz="384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9694" y="4663440"/>
            <a:ext cx="11887200" cy="10668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8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9693" y="5730240"/>
            <a:ext cx="11887200" cy="121920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48640"/>
            <a:fld id="{89098821-91B7-F645-934B-B1319F67721E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548640"/>
              <a:t>26/07/2025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48640"/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48640"/>
            <a:fld id="{18B8A8C8-E6A7-8849-A80F-5F415A81324A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 defTabSz="548640"/>
              <a:t>‹Nº›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2038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695" y="731522"/>
            <a:ext cx="11887199" cy="329183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9694" y="4206240"/>
            <a:ext cx="11887200" cy="100584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336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9693" y="5212080"/>
            <a:ext cx="11887200" cy="173736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48640"/>
            <a:fld id="{89098821-91B7-F645-934B-B1319F67721E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548640"/>
              <a:t>26/07/2025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48640"/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48640"/>
            <a:fld id="{18B8A8C8-E6A7-8849-A80F-5F415A81324A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 defTabSz="548640"/>
              <a:t>‹Nº›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84942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369695" y="731520"/>
            <a:ext cx="11887198" cy="2286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48640"/>
            <a:fld id="{89098821-91B7-F645-934B-B1319F67721E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548640"/>
              <a:t>26/07/2025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48640"/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48640"/>
            <a:fld id="{18B8A8C8-E6A7-8849-A80F-5F415A81324A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 defTabSz="548640"/>
              <a:t>‹Nº›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535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04278" y="731520"/>
            <a:ext cx="2652617" cy="62179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69694" y="731520"/>
            <a:ext cx="9052560" cy="621792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48640"/>
            <a:fld id="{89098821-91B7-F645-934B-B1319F67721E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548640"/>
              <a:t>26/07/2025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48640"/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48640"/>
            <a:fld id="{18B8A8C8-E6A7-8849-A80F-5F415A81324A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 defTabSz="548640"/>
              <a:t>‹Nº›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11704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6113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6602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C6626F-05C4-FEC1-1A69-8B698A486A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DD5E84-5708-9D0C-D772-EA31B1C879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B97985-7279-C4EC-EA63-E4BD45AE6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514F0-7754-43CD-AE81-F5BAFF9F37DB}" type="datetimeFigureOut">
              <a:rPr lang="es-CO" smtClean="0"/>
              <a:t>26/07/2025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AC8E74-ACF2-AC3C-2D5A-96293F33D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B9D37A-67B3-BEA8-D4E1-D8BC59F4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FB105-5513-435A-AD5B-46E973377C3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437561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61F48C-6743-E42F-31DC-21705D161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DA624E-9A49-A01D-4176-24A2D0E3A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030628-9258-56C3-E816-2E60CB878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514F0-7754-43CD-AE81-F5BAFF9F37DB}" type="datetimeFigureOut">
              <a:rPr lang="es-CO" smtClean="0"/>
              <a:t>26/07/2025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D12645-4770-FC0B-999E-2B2414309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8403C4-0E3F-6DEB-1EDE-624AFF8D0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FB105-5513-435A-AD5B-46E973377C3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02889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F41F96-1AF3-8BF5-42DB-044870833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7B8F91-D408-BDC7-0FED-BE70DCFB9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D3FCD4-5864-63FD-CD1B-3A8405B0F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514F0-7754-43CD-AE81-F5BAFF9F37DB}" type="datetimeFigureOut">
              <a:rPr lang="es-CO" smtClean="0"/>
              <a:t>26/07/2025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22EB8F-002A-8BD0-E526-B219F44CE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607C0D-088A-EB86-470B-82F28D9F1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FB105-5513-435A-AD5B-46E973377C3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304371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4D40C4-8345-498E-1BB1-A78E7FDED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DBD8C6-B790-D7D2-98B9-B4D3B12762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F24EA5D-5633-B809-0D7F-16CD4B73F0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011EDDE-6BE6-CE36-F364-769EF5114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514F0-7754-43CD-AE81-F5BAFF9F37DB}" type="datetimeFigureOut">
              <a:rPr lang="es-CO" smtClean="0"/>
              <a:t>26/07/2025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7BB200A-C37F-3711-0FDA-808280D0F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EFB3EF-8189-2176-3229-A52AA86F9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FB105-5513-435A-AD5B-46E973377C3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542360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E2A87F-359E-75B4-5964-47C978D4C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FE4CA9-E674-A8CD-A057-44EA2610F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6B54000-A7EB-4711-0F5A-9B91C40A27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9830CD3-5BEE-C627-FEB2-A4709C0FD3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ABD3BA7-AE6D-F47B-1CEE-93EC4A6AD7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63F90AF-4258-4225-F825-208799F28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514F0-7754-43CD-AE81-F5BAFF9F37DB}" type="datetimeFigureOut">
              <a:rPr lang="es-CO" smtClean="0"/>
              <a:t>26/07/2025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A85CBD7-D581-BB70-C51B-416B2E50B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AD6AB4D-EA35-6D99-C97F-B47FA47FD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FB105-5513-435A-AD5B-46E973377C3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35782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4CD958-1AA0-0133-C969-03A1399A7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32DC9E6-B889-7B26-430F-916255D74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514F0-7754-43CD-AE81-F5BAFF9F37DB}" type="datetimeFigureOut">
              <a:rPr lang="es-CO" smtClean="0"/>
              <a:t>26/07/2025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371673F-C276-7E09-C22D-898EE7BE2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E23C4B6-2B99-C1B2-EFB2-47AF6705B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FB105-5513-435A-AD5B-46E973377C3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07219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C122499-D94A-B849-B750-8D29DA145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514F0-7754-43CD-AE81-F5BAFF9F37DB}" type="datetimeFigureOut">
              <a:rPr lang="es-CO" smtClean="0"/>
              <a:t>26/07/2025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62D6098-DE37-8718-94CF-5BDBFC3CF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CF64BA3-4036-4003-5887-A2AC3B6ED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FB105-5513-435A-AD5B-46E973377C3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393425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57CA1D-C3FC-2F8D-EB90-C979222AD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2AE572-DCF1-4021-7E58-DECD2BFC5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D63DC0F-D318-A453-48D8-E1C48CF0C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4A4BD33-A402-310B-35A3-FB84699D5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514F0-7754-43CD-AE81-F5BAFF9F37DB}" type="datetimeFigureOut">
              <a:rPr lang="es-CO" smtClean="0"/>
              <a:t>26/07/2025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37E453D-F23C-DB64-6A34-AB8A6EB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3EDB4B3-39FF-8101-C356-89E344EC5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FB105-5513-435A-AD5B-46E973377C3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31706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45BC5B-2CC0-E39A-1316-4CFD879D7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6190A08-4D6D-FAB5-4FAE-C0D1CFDC40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F9BBADD-2649-AF10-987E-D190497C16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A60FF25-B15D-3648-0254-B76FEBB1B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514F0-7754-43CD-AE81-F5BAFF9F37DB}" type="datetimeFigureOut">
              <a:rPr lang="es-CO" smtClean="0"/>
              <a:t>26/07/2025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D6E4D92-F4FC-3515-3273-7788AB941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33AC3CE-6208-0B73-11FB-FE4825FCD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FB105-5513-435A-AD5B-46E973377C3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150523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D9294E-E07A-98CF-C2FA-DB13E592A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646E47C-001D-7332-51BC-E24F587B6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C338D3-FD8A-0988-95E9-9CE27AC76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514F0-7754-43CD-AE81-F5BAFF9F37DB}" type="datetimeFigureOut">
              <a:rPr lang="es-CO" smtClean="0"/>
              <a:t>26/07/2025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9F62E1-DDF0-BCC8-5223-43C8E2D31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BE4AA4-28CE-D327-4655-3D52105D8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FB105-5513-435A-AD5B-46E973377C3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076687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D5FA2C6-57C7-786A-5701-EA8902EE82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ADADF64-7E0E-0698-46D7-FBE89D04E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457DDC-8341-ADD1-E075-7F693FD1D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514F0-7754-43CD-AE81-F5BAFF9F37DB}" type="datetimeFigureOut">
              <a:rPr lang="es-CO" smtClean="0"/>
              <a:t>26/07/2025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25C5F8-A309-05CB-C2FA-A7D5AD5C6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EF3F24-784A-B516-BDA6-B50E9BB8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FB105-5513-435A-AD5B-46E973377C3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75441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CFF726-0E27-40B6-847B-66B45C485E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43179B-ACC9-443D-A297-199C0C76E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5363CE-AFF6-429B-B3A6-723781CF4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BBC82-AC71-4E65-A19C-2F2F94DBEF27}" type="datetimeFigureOut">
              <a:rPr lang="es-CO" smtClean="0"/>
              <a:t>26/07/2025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5CA702-884F-48C7-B652-7569F3F3A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5E9A64-ABD0-411D-8502-B31B76490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886C-CE2F-47EC-A9FB-62EE82394E32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616205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95A288-9F8B-4632-A302-BE9384F07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DD7037-07C5-4227-BE22-4225C8F3B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851445-54B7-45C1-B53D-7981433D0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BBC82-AC71-4E65-A19C-2F2F94DBEF27}" type="datetimeFigureOut">
              <a:rPr lang="es-CO" smtClean="0"/>
              <a:t>26/07/2025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A53A47-D108-4B1B-8D60-A82A368DD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09B3CC-3975-4607-8656-1FF911207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886C-CE2F-47EC-A9FB-62EE82394E32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634488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31A027-6464-4C7F-A05B-A407A3CC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9E5AD9-2760-4163-9E79-42B1407C9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685F9E-38D0-40E6-8FDE-9D57B81B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BBC82-AC71-4E65-A19C-2F2F94DBEF27}" type="datetimeFigureOut">
              <a:rPr lang="es-CO" smtClean="0"/>
              <a:t>26/07/2025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EB2417-B534-4169-9D63-93736912D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730561-2D9E-43BD-AA08-7A7AC3EF8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886C-CE2F-47EC-A9FB-62EE82394E32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2595739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9773D3-E026-4EB0-B40E-A071766AD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A1127D-F103-41BD-AC47-336BFB280D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4653B8-B699-4E21-ADD1-4F7FC6DDA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D1F0E58-65EC-4D26-ABC2-EFBC1F49D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BBC82-AC71-4E65-A19C-2F2F94DBEF27}" type="datetimeFigureOut">
              <a:rPr lang="es-CO" smtClean="0"/>
              <a:t>26/07/2025</a:t>
            </a:fld>
            <a:endParaRPr lang="es-CO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A1E2C0-EEB0-4165-B5FB-CE1FA1880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4648815-5FC5-44D7-8456-3359ACC04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886C-CE2F-47EC-A9FB-62EE82394E32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456503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D39E66-86F1-4481-87FE-DD9334C4E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4772D4-D987-4A25-B1B8-A7B59937F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789C87E-49B9-460D-914B-604FC29D9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22945-B59E-487C-9695-1481CCCAB0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5AD0D2D-CA98-4648-B45D-77E9241050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5539154-272C-4BCC-819B-7C65AAD0D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BBC82-AC71-4E65-A19C-2F2F94DBEF27}" type="datetimeFigureOut">
              <a:rPr lang="es-CO" smtClean="0"/>
              <a:t>26/07/2025</a:t>
            </a:fld>
            <a:endParaRPr lang="es-CO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943D89F-A0A5-481D-BB63-9758A579D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E3132CF-098A-4D05-B37D-BE8FC36DF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886C-CE2F-47EC-A9FB-62EE82394E32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288416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820313-08AF-4131-8216-AF6692D74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E484812-4103-48BA-972C-D4B909F17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BBC82-AC71-4E65-A19C-2F2F94DBEF27}" type="datetimeFigureOut">
              <a:rPr lang="es-CO" smtClean="0"/>
              <a:t>26/07/2025</a:t>
            </a:fld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0E5A336-33C7-4080-9E03-BAACA0D06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E0C2A8-D706-4011-9D20-29E8898B9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886C-CE2F-47EC-A9FB-62EE82394E32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550979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8199B4B-6915-4832-8891-CC7635856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BBC82-AC71-4E65-A19C-2F2F94DBEF27}" type="datetimeFigureOut">
              <a:rPr lang="es-CO" smtClean="0"/>
              <a:t>26/07/2025</a:t>
            </a:fld>
            <a:endParaRPr lang="es-CO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433F818-CD29-4B4A-BBB3-78716BE5D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1B478F1-CF98-4C67-9322-FD7BAA30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886C-CE2F-47EC-A9FB-62EE82394E32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7320168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6CE599-D289-48DD-B9E2-35D8FB584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CABB74-2873-456B-BA55-70402AB5F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3FA4B5B-BF86-4E08-89F4-E1EC4F61A9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2C4C04-11D7-4E25-9A8F-6FF10F93C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BBC82-AC71-4E65-A19C-2F2F94DBEF27}" type="datetimeFigureOut">
              <a:rPr lang="es-CO" smtClean="0"/>
              <a:t>26/07/2025</a:t>
            </a:fld>
            <a:endParaRPr lang="es-CO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B849AE-9456-45BE-932F-5C3CD63DC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31CD28A-E7F5-437F-8763-3FA203E84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886C-CE2F-47EC-A9FB-62EE82394E32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933189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1B6AD-9B01-4FA5-B04D-A44BF3AE9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E9E7A0E-3C70-4D2F-B303-674372FCA7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s-CO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931866-3C9A-43BA-B3E0-0744E52F9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611A227-507D-41C4-8F50-47992478A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BBC82-AC71-4E65-A19C-2F2F94DBEF27}" type="datetimeFigureOut">
              <a:rPr lang="es-CO" smtClean="0"/>
              <a:t>26/07/2025</a:t>
            </a:fld>
            <a:endParaRPr lang="es-CO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39E84AB-970C-49F5-8F60-08CA9364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F5632B-B8AA-46B2-8D4A-64E350F4B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886C-CE2F-47EC-A9FB-62EE82394E32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26197545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6F8E1-450A-4010-8C97-AC56AD612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85EF656-1516-410B-81B6-89E8580611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90BE0B-4365-4438-B696-D1C7E6E4B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BBC82-AC71-4E65-A19C-2F2F94DBEF27}" type="datetimeFigureOut">
              <a:rPr lang="es-CO" smtClean="0"/>
              <a:t>26/07/2025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101F54-D95B-4A19-B6FA-6D9DAA5B5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CCB0D4-2EC3-4C7E-A052-35E3C3912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886C-CE2F-47EC-A9FB-62EE82394E32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5651079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24C88F5-3CE9-4C87-9A21-E06D39AB68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3435FDC-3685-4F00-9BB7-FF441E14B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D5AFD8-A60A-433D-BE13-76D8835AF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BBC82-AC71-4E65-A19C-2F2F94DBEF27}" type="datetimeFigureOut">
              <a:rPr lang="es-CO" smtClean="0"/>
              <a:t>26/07/2025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DD37B3-BE73-4636-9B32-7F961A92F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C78604-82CC-491C-A4C6-DB3ABD831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886C-CE2F-47EC-A9FB-62EE82394E32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97668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69695" y="731520"/>
            <a:ext cx="11887198" cy="228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9695" y="3200400"/>
            <a:ext cx="11887198" cy="37490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05134" y="7059931"/>
            <a:ext cx="19202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pPr defTabSz="548640"/>
            <a:fld id="{89098821-91B7-F645-934B-B1319F67721E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548640"/>
              <a:t>26/07/2025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69694" y="7059931"/>
            <a:ext cx="90525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pPr defTabSz="548640"/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616815" y="7059931"/>
            <a:ext cx="66140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pPr defTabSz="548640"/>
            <a:fld id="{18B8A8C8-E6A7-8849-A80F-5F415A81324A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 defTabSz="548640"/>
              <a:t>‹Nº›</a:t>
            </a:fld>
            <a:endParaRPr lang="es-ES_trad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4637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  <p:sldLayoutId id="2147483856" r:id="rId12"/>
    <p:sldLayoutId id="2147483857" r:id="rId13"/>
    <p:sldLayoutId id="2147483858" r:id="rId14"/>
    <p:sldLayoutId id="2147483859" r:id="rId15"/>
    <p:sldLayoutId id="2147483860" r:id="rId16"/>
    <p:sldLayoutId id="2147483861" r:id="rId17"/>
    <p:sldLayoutId id="2147483862" r:id="rId18"/>
    <p:sldLayoutId id="2147483863" r:id="rId19"/>
  </p:sldLayoutIdLst>
  <p:txStyles>
    <p:titleStyle>
      <a:lvl1pPr algn="l" defTabSz="548640" rtl="0" eaLnBrk="1" latinLnBrk="0" hangingPunct="1">
        <a:spcBef>
          <a:spcPct val="0"/>
        </a:spcBef>
        <a:buNone/>
        <a:defRPr sz="384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100000"/>
        <a:buFont typeface="Arial"/>
        <a:buChar char="•"/>
        <a:defRPr sz="2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100000"/>
        <a:buFont typeface="Arial"/>
        <a:buChar char="•"/>
        <a:defRPr sz="216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44018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100000"/>
        <a:buFont typeface="Arial"/>
        <a:buChar char="•"/>
        <a:defRPr sz="192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851660" indent="-20574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100000"/>
        <a:buFont typeface="Arial"/>
        <a:buChar char="•"/>
        <a:defRPr sz="168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400300" indent="-20574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100000"/>
        <a:buFont typeface="Arial"/>
        <a:buChar char="•"/>
        <a:defRPr sz="168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100000"/>
        <a:buFont typeface="Arial"/>
        <a:buChar char="•"/>
        <a:defRPr sz="144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100000"/>
        <a:buFont typeface="Arial"/>
        <a:buChar char="•"/>
        <a:defRPr sz="144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100000"/>
        <a:buFont typeface="Arial"/>
        <a:buChar char="•"/>
        <a:defRPr sz="144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100000"/>
        <a:buFont typeface="Arial"/>
        <a:buChar char="•"/>
        <a:defRPr sz="144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74E104F-659F-D449-F37E-1641AE7D5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15440A-5E8F-919C-F66E-5C7DA9666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0B2A07-A8FD-3056-29CF-E6280AD8AA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514F0-7754-43CD-AE81-F5BAFF9F37DB}" type="datetimeFigureOut">
              <a:rPr lang="es-CO" smtClean="0"/>
              <a:t>26/07/2025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7C505F-9FC5-4856-4B74-2B9FC7B4B9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1EF55C-0C3F-31C5-184F-B07B8FD18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8FB105-5513-435A-AD5B-46E973377C3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3722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7363A93-5314-4A02-8740-D3D2ED731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173BA5-93D9-4D17-A241-B01978E69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3BEE03-3861-4A95-8726-490BD07FC7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BBC82-AC71-4E65-A19C-2F2F94DBEF27}" type="datetimeFigureOut">
              <a:rPr lang="es-CO" smtClean="0"/>
              <a:t>26/07/2025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33E51E-3CB5-4906-A19D-8C8DB2097F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D4FED7-7BF8-4607-8F11-34B86B26BA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5886C-CE2F-47EC-A9FB-62EE82394E32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32452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08D519-EAF2-4446-B421-94B25401E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8044" y="2702266"/>
            <a:ext cx="4810328" cy="1089529"/>
          </a:xfrm>
        </p:spPr>
        <p:txBody>
          <a:bodyPr anchor="ctr" anchorCtr="0">
            <a:noAutofit/>
          </a:bodyPr>
          <a:lstStyle/>
          <a:p>
            <a:pPr algn="l"/>
            <a:r>
              <a:rPr lang="es-MX" sz="4320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Roboto Black" panose="02000000000000000000"/>
              </a:rPr>
              <a:t>TTECH GROUP</a:t>
            </a:r>
            <a:endParaRPr lang="es-CO" sz="4320" dirty="0">
              <a:solidFill>
                <a:schemeClr val="bg1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Roboto Black" panose="0200000000000000000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65494CF-7C1B-4467-A750-C0D4CDE1A52A}"/>
              </a:ext>
            </a:extLst>
          </p:cNvPr>
          <p:cNvSpPr txBox="1"/>
          <p:nvPr/>
        </p:nvSpPr>
        <p:spPr>
          <a:xfrm>
            <a:off x="8931785" y="5920485"/>
            <a:ext cx="5507783" cy="1034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097280">
              <a:defRPr/>
            </a:pPr>
            <a:r>
              <a:rPr lang="es-ES" sz="2400" b="1" dirty="0">
                <a:solidFill>
                  <a:prstClr val="white"/>
                </a:solidFill>
                <a:latin typeface="Calibri" panose="020F0502020204030204"/>
              </a:rPr>
              <a:t>Leidy Milena Loaiza</a:t>
            </a:r>
          </a:p>
          <a:p>
            <a:pPr algn="r" defTabSz="1097280">
              <a:defRPr/>
            </a:pPr>
            <a:endParaRPr lang="es-ES" sz="1320" b="1" dirty="0">
              <a:solidFill>
                <a:prstClr val="white"/>
              </a:solidFill>
              <a:latin typeface="Calibri" panose="020F0502020204030204"/>
            </a:endParaRPr>
          </a:p>
          <a:p>
            <a:pPr algn="r" defTabSz="1097280">
              <a:defRPr/>
            </a:pPr>
            <a:r>
              <a:rPr lang="es-ES" sz="2400" b="1" dirty="0">
                <a:solidFill>
                  <a:prstClr val="white"/>
                </a:solidFill>
                <a:latin typeface="Calibri" panose="020F0502020204030204"/>
              </a:rPr>
              <a:t>Darwin Rojas Valencia</a:t>
            </a: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738B368E-3568-40B4-9566-1F99DDC61D3B}"/>
              </a:ext>
            </a:extLst>
          </p:cNvPr>
          <p:cNvSpPr txBox="1">
            <a:spLocks/>
          </p:cNvSpPr>
          <p:nvPr/>
        </p:nvSpPr>
        <p:spPr>
          <a:xfrm>
            <a:off x="619939" y="4512149"/>
            <a:ext cx="7422070" cy="1995517"/>
          </a:xfrm>
          <a:prstGeom prst="rect">
            <a:avLst/>
          </a:prstGeom>
        </p:spPr>
        <p:txBody>
          <a:bodyPr vert="horz" lIns="109728" tIns="54864" rIns="109728" bIns="54864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1097280">
              <a:defRPr/>
            </a:pPr>
            <a:r>
              <a:rPr lang="es-ES" sz="4800" dirty="0">
                <a:solidFill>
                  <a:prstClr val="white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Roboto Black" panose="02000000000000000000"/>
              </a:rPr>
              <a:t>DESAFÍO INGELEAN – NIVEL EXPLORADOR</a:t>
            </a:r>
          </a:p>
        </p:txBody>
      </p:sp>
      <p:pic>
        <p:nvPicPr>
          <p:cNvPr id="11" name="Graphic 12">
            <a:extLst>
              <a:ext uri="{FF2B5EF4-FFF2-40B4-BE49-F238E27FC236}">
                <a16:creationId xmlns:a16="http://schemas.microsoft.com/office/drawing/2014/main" id="{7EDF594B-138A-4F2A-A389-E1497BDA1A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2123" y="3885423"/>
            <a:ext cx="3258851" cy="5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384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5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50"/>
                            </p:stCondLst>
                            <p:childTnLst>
                              <p:par>
                                <p:cTn id="17" presetID="6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F08913-C2A4-4DC9-3843-FDEDBB0F2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AA667FEE-A5FA-10ED-069D-FD8A6763A1C9}"/>
              </a:ext>
            </a:extLst>
          </p:cNvPr>
          <p:cNvSpPr txBox="1"/>
          <p:nvPr/>
        </p:nvSpPr>
        <p:spPr>
          <a:xfrm>
            <a:off x="1430767" y="1631398"/>
            <a:ext cx="1174735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3600" b="1" dirty="0">
                <a:solidFill>
                  <a:srgbClr val="002060"/>
                </a:solidFill>
              </a:rPr>
              <a:t>Problema y Variable a Predecir</a:t>
            </a:r>
            <a:endParaRPr lang="es-CO" sz="3600" b="1" dirty="0">
              <a:solidFill>
                <a:srgbClr val="002060"/>
              </a:solidFill>
            </a:endParaRPr>
          </a:p>
          <a:p>
            <a:pPr algn="just">
              <a:buNone/>
            </a:pPr>
            <a:r>
              <a:rPr lang="es-MX" sz="2800" b="1" dirty="0">
                <a:solidFill>
                  <a:srgbClr val="002060"/>
                </a:solidFill>
                <a:latin typeface="Abadi Extra Light" panose="020F0502020204030204" pitchFamily="34" charset="0"/>
              </a:rPr>
              <a:t>Problema:</a:t>
            </a:r>
          </a:p>
          <a:p>
            <a:pPr algn="just">
              <a:buNone/>
            </a:pPr>
            <a:r>
              <a:rPr lang="es-MX" sz="2800" dirty="0">
                <a:solidFill>
                  <a:srgbClr val="002060"/>
                </a:solidFill>
                <a:latin typeface="Abadi Extra Light" panose="020F0502020204030204" pitchFamily="34" charset="0"/>
              </a:rPr>
              <a:t>La gestión eficiente del inventario y las promociones en tiendas minoristas es clave para maximizar ventas y reducir costos. Sin datos precisos, se corre el riesgo de desabastecimiento o exceso de stock, afectando la rentabilidad.</a:t>
            </a:r>
          </a:p>
          <a:p>
            <a:pPr algn="just">
              <a:buNone/>
            </a:pPr>
            <a:endParaRPr lang="es-MX" sz="2800" dirty="0">
              <a:solidFill>
                <a:srgbClr val="002060"/>
              </a:solidFill>
              <a:latin typeface="Abadi Extra Light" panose="020F0502020204030204" pitchFamily="34" charset="0"/>
            </a:endParaRPr>
          </a:p>
          <a:p>
            <a:pPr algn="just">
              <a:buNone/>
            </a:pPr>
            <a:r>
              <a:rPr lang="es-MX" sz="2800" b="1" dirty="0">
                <a:solidFill>
                  <a:srgbClr val="002060"/>
                </a:solidFill>
                <a:latin typeface="Abadi Extra Light" panose="020F0502020204030204" pitchFamily="34" charset="0"/>
              </a:rPr>
              <a:t>Variable a predecir:</a:t>
            </a:r>
          </a:p>
          <a:p>
            <a:pPr algn="just">
              <a:buNone/>
            </a:pPr>
            <a:r>
              <a:rPr lang="es-MX" sz="2800" dirty="0">
                <a:solidFill>
                  <a:srgbClr val="002060"/>
                </a:solidFill>
                <a:latin typeface="Abadi Extra Light" panose="020F0502020204030204" pitchFamily="34" charset="0"/>
              </a:rPr>
              <a:t>La cantidad de productos vendidos (“</a:t>
            </a:r>
            <a:r>
              <a:rPr lang="es-MX" sz="2800" dirty="0" err="1">
                <a:solidFill>
                  <a:srgbClr val="002060"/>
                </a:solidFill>
                <a:latin typeface="Abadi Extra Light" panose="020F0502020204030204" pitchFamily="34" charset="0"/>
              </a:rPr>
              <a:t>Units</a:t>
            </a:r>
            <a:r>
              <a:rPr lang="es-MX" sz="2800" dirty="0">
                <a:solidFill>
                  <a:srgbClr val="002060"/>
                </a:solidFill>
                <a:latin typeface="Abadi Extra Light" panose="020F0502020204030204" pitchFamily="34" charset="0"/>
              </a:rPr>
              <a:t> </a:t>
            </a:r>
            <a:r>
              <a:rPr lang="es-MX" sz="2800" dirty="0" err="1">
                <a:solidFill>
                  <a:srgbClr val="002060"/>
                </a:solidFill>
                <a:latin typeface="Abadi Extra Light" panose="020F0502020204030204" pitchFamily="34" charset="0"/>
              </a:rPr>
              <a:t>Sold</a:t>
            </a:r>
            <a:r>
              <a:rPr lang="es-MX" sz="2800" dirty="0">
                <a:solidFill>
                  <a:srgbClr val="002060"/>
                </a:solidFill>
                <a:latin typeface="Abadi Extra Light" panose="020F0502020204030204" pitchFamily="34" charset="0"/>
              </a:rPr>
              <a:t>”) en función de variables como inventario, pedidos, precio, descuentos y promociones.</a:t>
            </a:r>
          </a:p>
          <a:p>
            <a:pPr algn="just">
              <a:buNone/>
            </a:pPr>
            <a:endParaRPr lang="es-MX" sz="2800" dirty="0">
              <a:solidFill>
                <a:srgbClr val="002060"/>
              </a:solidFill>
              <a:latin typeface="Abadi Extra Light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855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C2BED7-2DB6-1451-EE32-97DC35100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062977B-D172-6442-B634-E39BC42D95A4}"/>
              </a:ext>
            </a:extLst>
          </p:cNvPr>
          <p:cNvSpPr txBox="1"/>
          <p:nvPr/>
        </p:nvSpPr>
        <p:spPr>
          <a:xfrm>
            <a:off x="914400" y="1053195"/>
            <a:ext cx="1233861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O" dirty="0">
              <a:solidFill>
                <a:srgbClr val="002060"/>
              </a:solidFill>
            </a:endParaRPr>
          </a:p>
          <a:p>
            <a:pPr algn="ctr"/>
            <a:r>
              <a:rPr lang="es-CO" sz="3200" b="1" dirty="0">
                <a:solidFill>
                  <a:srgbClr val="002060"/>
                </a:solidFill>
              </a:rPr>
              <a:t>   </a:t>
            </a:r>
            <a:r>
              <a:rPr lang="es-MX" sz="3200" b="1" dirty="0">
                <a:solidFill>
                  <a:srgbClr val="002060"/>
                </a:solidFill>
              </a:rPr>
              <a:t>Análisis de Datos y Modelo Implementado</a:t>
            </a:r>
            <a:endParaRPr lang="es-CO" dirty="0">
              <a:solidFill>
                <a:srgbClr val="002060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972A983-978E-4BA3-E497-6108AEAFC7DF}"/>
              </a:ext>
            </a:extLst>
          </p:cNvPr>
          <p:cNvSpPr txBox="1"/>
          <p:nvPr/>
        </p:nvSpPr>
        <p:spPr>
          <a:xfrm>
            <a:off x="1441524" y="2387824"/>
            <a:ext cx="1174735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rgbClr val="002060"/>
                </a:solidFill>
                <a:latin typeface="Abadi Extra Light" panose="020F0502020204030204" pitchFamily="34" charset="0"/>
              </a:rPr>
              <a:t>Se realizó una exploración de los datos para identificar tendencias, categorías más vendidas y posibles anomalías.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rgbClr val="002060"/>
                </a:solidFill>
                <a:latin typeface="Abadi Extra Light" panose="020F0502020204030204" pitchFamily="34" charset="0"/>
              </a:rPr>
              <a:t>Se implementó un modelo de Regresión Lineal usando variables relevantes: nivel de inventario, unidades ordenadas, precio, descuento, competencia y promociones.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rgbClr val="002060"/>
                </a:solidFill>
                <a:latin typeface="Abadi Extra Light" panose="020F0502020204030204" pitchFamily="34" charset="0"/>
              </a:rPr>
              <a:t>El modelo fue entrenado y evaluado con métricas como MAE y R².</a:t>
            </a:r>
          </a:p>
        </p:txBody>
      </p:sp>
    </p:spTree>
    <p:extLst>
      <p:ext uri="{BB962C8B-B14F-4D97-AF65-F5344CB8AC3E}">
        <p14:creationId xmlns:p14="http://schemas.microsoft.com/office/powerpoint/2010/main" val="1364540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C2BED7-2DB6-1451-EE32-97DC35100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062977B-D172-6442-B634-E39BC42D95A4}"/>
              </a:ext>
            </a:extLst>
          </p:cNvPr>
          <p:cNvSpPr txBox="1"/>
          <p:nvPr/>
        </p:nvSpPr>
        <p:spPr>
          <a:xfrm>
            <a:off x="1145894" y="0"/>
            <a:ext cx="1233861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O" dirty="0">
              <a:solidFill>
                <a:srgbClr val="002060"/>
              </a:solidFill>
            </a:endParaRPr>
          </a:p>
          <a:p>
            <a:pPr algn="ctr"/>
            <a:r>
              <a:rPr lang="es-CO" sz="3200" b="1" dirty="0">
                <a:solidFill>
                  <a:srgbClr val="002060"/>
                </a:solidFill>
              </a:rPr>
              <a:t>   </a:t>
            </a:r>
            <a:r>
              <a:rPr lang="es-MX" sz="3200" b="1" dirty="0">
                <a:solidFill>
                  <a:srgbClr val="002060"/>
                </a:solidFill>
              </a:rPr>
              <a:t>Visualizaciones Clave y Resultados</a:t>
            </a:r>
            <a:endParaRPr lang="es-CO" dirty="0">
              <a:solidFill>
                <a:srgbClr val="002060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972A983-978E-4BA3-E497-6108AEAFC7DF}"/>
              </a:ext>
            </a:extLst>
          </p:cNvPr>
          <p:cNvSpPr txBox="1"/>
          <p:nvPr/>
        </p:nvSpPr>
        <p:spPr>
          <a:xfrm>
            <a:off x="7573383" y="5588555"/>
            <a:ext cx="69494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b="1" dirty="0">
                <a:solidFill>
                  <a:srgbClr val="002060"/>
                </a:solidFill>
                <a:latin typeface="Abadi Extra Light" panose="020F0502020204030204" pitchFamily="34" charset="0"/>
              </a:rPr>
              <a:t>Gráfico de barras: </a:t>
            </a:r>
            <a:r>
              <a:rPr lang="es-MX" sz="2000" dirty="0">
                <a:solidFill>
                  <a:srgbClr val="002060"/>
                </a:solidFill>
                <a:latin typeface="Abadi Extra Light" panose="020F0502020204030204" pitchFamily="34" charset="0"/>
              </a:rPr>
              <a:t>Total de ventas por categoría.</a:t>
            </a:r>
          </a:p>
        </p:txBody>
      </p:sp>
      <p:pic>
        <p:nvPicPr>
          <p:cNvPr id="4" name="Imagen 3" descr="Gráfico, Histograma&#10;&#10;Descripción generada automáticamente">
            <a:extLst>
              <a:ext uri="{FF2B5EF4-FFF2-40B4-BE49-F238E27FC236}">
                <a16:creationId xmlns:a16="http://schemas.microsoft.com/office/drawing/2014/main" id="{6700F324-52B2-7774-64E2-90F006EADB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990" y="1738730"/>
            <a:ext cx="6241091" cy="3753794"/>
          </a:xfrm>
          <a:prstGeom prst="rect">
            <a:avLst/>
          </a:prstGeom>
        </p:spPr>
      </p:pic>
      <p:pic>
        <p:nvPicPr>
          <p:cNvPr id="7" name="Imagen 6" descr="Gráfico, Gráfico de barras&#10;&#10;Descripción generada automáticamente">
            <a:extLst>
              <a:ext uri="{FF2B5EF4-FFF2-40B4-BE49-F238E27FC236}">
                <a16:creationId xmlns:a16="http://schemas.microsoft.com/office/drawing/2014/main" id="{0910896A-2ED4-F780-C8C1-E455BB379C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7557" y="1763307"/>
            <a:ext cx="6241091" cy="370463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36442DB3-5B1E-BE64-B972-8737735EFACD}"/>
              </a:ext>
            </a:extLst>
          </p:cNvPr>
          <p:cNvSpPr txBox="1"/>
          <p:nvPr/>
        </p:nvSpPr>
        <p:spPr>
          <a:xfrm>
            <a:off x="1280160" y="5588555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solidFill>
                  <a:srgbClr val="002060"/>
                </a:solidFill>
                <a:latin typeface="Abadi Extra Light" panose="020F0502020204030204" pitchFamily="34" charset="0"/>
              </a:rPr>
              <a:t>Histograma</a:t>
            </a:r>
            <a:r>
              <a:rPr lang="es-MX" sz="2000" dirty="0">
                <a:solidFill>
                  <a:srgbClr val="002060"/>
                </a:solidFill>
                <a:latin typeface="Abadi Extra Light" panose="020F0502020204030204" pitchFamily="34" charset="0"/>
              </a:rPr>
              <a:t>: Distribución de productos vendidos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14711322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C2BED7-2DB6-1451-EE32-97DC35100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062977B-D172-6442-B634-E39BC42D95A4}"/>
              </a:ext>
            </a:extLst>
          </p:cNvPr>
          <p:cNvSpPr txBox="1"/>
          <p:nvPr/>
        </p:nvSpPr>
        <p:spPr>
          <a:xfrm>
            <a:off x="1145892" y="130973"/>
            <a:ext cx="1233861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O" dirty="0">
              <a:solidFill>
                <a:srgbClr val="002060"/>
              </a:solidFill>
            </a:endParaRPr>
          </a:p>
          <a:p>
            <a:pPr algn="ctr"/>
            <a:r>
              <a:rPr lang="es-CO" sz="3200" b="1" dirty="0">
                <a:solidFill>
                  <a:srgbClr val="002060"/>
                </a:solidFill>
              </a:rPr>
              <a:t>   </a:t>
            </a:r>
            <a:r>
              <a:rPr lang="es-MX" sz="3200" b="1" dirty="0">
                <a:solidFill>
                  <a:srgbClr val="002060"/>
                </a:solidFill>
              </a:rPr>
              <a:t>Visualizaciones Clave y Resultados</a:t>
            </a:r>
            <a:endParaRPr lang="es-CO" dirty="0">
              <a:solidFill>
                <a:srgbClr val="002060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972A983-978E-4BA3-E497-6108AEAFC7DF}"/>
              </a:ext>
            </a:extLst>
          </p:cNvPr>
          <p:cNvSpPr txBox="1"/>
          <p:nvPr/>
        </p:nvSpPr>
        <p:spPr>
          <a:xfrm>
            <a:off x="4606110" y="5692943"/>
            <a:ext cx="54181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b="1" dirty="0" err="1">
                <a:solidFill>
                  <a:srgbClr val="002060"/>
                </a:solidFill>
                <a:latin typeface="Abadi Extra Light" panose="020F0502020204030204" pitchFamily="34" charset="0"/>
              </a:rPr>
              <a:t>Boxplot</a:t>
            </a:r>
            <a:r>
              <a:rPr lang="es-MX" sz="2000" dirty="0">
                <a:solidFill>
                  <a:srgbClr val="002060"/>
                </a:solidFill>
                <a:latin typeface="Abadi Extra Light" panose="020F0502020204030204" pitchFamily="34" charset="0"/>
              </a:rPr>
              <a:t>: Distribución de productos por categoría.</a:t>
            </a:r>
          </a:p>
        </p:txBody>
      </p:sp>
      <p:pic>
        <p:nvPicPr>
          <p:cNvPr id="7" name="Imagen 6" descr="Gráfico, Gráfico de cajas y bigotes&#10;&#10;Descripción generada automáticamente">
            <a:extLst>
              <a:ext uri="{FF2B5EF4-FFF2-40B4-BE49-F238E27FC236}">
                <a16:creationId xmlns:a16="http://schemas.microsoft.com/office/drawing/2014/main" id="{9990A098-E993-7E80-27ED-353A181DFD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7892" y="1486394"/>
            <a:ext cx="8334615" cy="408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9245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C2BED7-2DB6-1451-EE32-97DC35100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062977B-D172-6442-B634-E39BC42D95A4}"/>
              </a:ext>
            </a:extLst>
          </p:cNvPr>
          <p:cNvSpPr txBox="1"/>
          <p:nvPr/>
        </p:nvSpPr>
        <p:spPr>
          <a:xfrm>
            <a:off x="815340" y="104071"/>
            <a:ext cx="1233861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O" dirty="0">
              <a:solidFill>
                <a:srgbClr val="002060"/>
              </a:solidFill>
            </a:endParaRPr>
          </a:p>
          <a:p>
            <a:pPr algn="ctr"/>
            <a:r>
              <a:rPr lang="es-CO" sz="3200" b="1" dirty="0">
                <a:solidFill>
                  <a:srgbClr val="002060"/>
                </a:solidFill>
              </a:rPr>
              <a:t>   </a:t>
            </a:r>
            <a:r>
              <a:rPr lang="es-MX" sz="3200" b="1" dirty="0">
                <a:solidFill>
                  <a:srgbClr val="002060"/>
                </a:solidFill>
              </a:rPr>
              <a:t>Visualizaciones Clave y Resultados</a:t>
            </a:r>
            <a:endParaRPr lang="es-CO" dirty="0">
              <a:solidFill>
                <a:srgbClr val="00206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252F953-DC87-E7D3-8716-59E5FD7C7467}"/>
              </a:ext>
            </a:extLst>
          </p:cNvPr>
          <p:cNvSpPr txBox="1"/>
          <p:nvPr/>
        </p:nvSpPr>
        <p:spPr>
          <a:xfrm>
            <a:off x="7755037" y="5528151"/>
            <a:ext cx="59274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b="1" dirty="0">
                <a:solidFill>
                  <a:srgbClr val="002060"/>
                </a:solidFill>
                <a:latin typeface="Abadi Extra Light" panose="020F0502020204030204" pitchFamily="34" charset="0"/>
              </a:rPr>
              <a:t>Gráfico de línea: </a:t>
            </a:r>
            <a:r>
              <a:rPr lang="es-MX" sz="2000" dirty="0">
                <a:solidFill>
                  <a:srgbClr val="002060"/>
                </a:solidFill>
                <a:latin typeface="Abadi Extra Light" panose="020F0502020204030204" pitchFamily="34" charset="0"/>
              </a:rPr>
              <a:t>Comportamiento histórico de ventas y media móvil.</a:t>
            </a:r>
          </a:p>
        </p:txBody>
      </p:sp>
      <p:pic>
        <p:nvPicPr>
          <p:cNvPr id="4" name="Imagen 3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689D1648-0B16-6483-4D05-BABACFE6A9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2604" y="1925130"/>
            <a:ext cx="6978784" cy="346776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6833807-4C8D-8DBF-DA1B-F93D38FFB486}"/>
              </a:ext>
            </a:extLst>
          </p:cNvPr>
          <p:cNvSpPr txBox="1"/>
          <p:nvPr/>
        </p:nvSpPr>
        <p:spPr>
          <a:xfrm>
            <a:off x="603392" y="5530425"/>
            <a:ext cx="59422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b="1" dirty="0" err="1">
                <a:solidFill>
                  <a:srgbClr val="002060"/>
                </a:solidFill>
                <a:latin typeface="Abadi Extra Light" panose="020F0502020204030204" pitchFamily="34" charset="0"/>
              </a:rPr>
              <a:t>Scatter</a:t>
            </a:r>
            <a:r>
              <a:rPr lang="es-MX" sz="2000" b="1" dirty="0">
                <a:solidFill>
                  <a:srgbClr val="002060"/>
                </a:solidFill>
                <a:latin typeface="Abadi Extra Light" panose="020F0502020204030204" pitchFamily="34" charset="0"/>
              </a:rPr>
              <a:t> </a:t>
            </a:r>
            <a:r>
              <a:rPr lang="es-MX" sz="2000" b="1" dirty="0" err="1">
                <a:solidFill>
                  <a:srgbClr val="002060"/>
                </a:solidFill>
                <a:latin typeface="Abadi Extra Light" panose="020F0502020204030204" pitchFamily="34" charset="0"/>
              </a:rPr>
              <a:t>plot</a:t>
            </a:r>
            <a:r>
              <a:rPr lang="es-MX" sz="2000" b="1" dirty="0">
                <a:solidFill>
                  <a:srgbClr val="002060"/>
                </a:solidFill>
                <a:latin typeface="Abadi Extra Light" panose="020F0502020204030204" pitchFamily="34" charset="0"/>
              </a:rPr>
              <a:t>: </a:t>
            </a:r>
            <a:r>
              <a:rPr lang="es-MX" sz="2000" dirty="0">
                <a:solidFill>
                  <a:srgbClr val="002060"/>
                </a:solidFill>
                <a:latin typeface="Abadi Extra Light" panose="020F0502020204030204" pitchFamily="34" charset="0"/>
              </a:rPr>
              <a:t>Comparación entre ventas reales y predichas.</a:t>
            </a:r>
          </a:p>
        </p:txBody>
      </p:sp>
      <p:pic>
        <p:nvPicPr>
          <p:cNvPr id="7" name="Imagen 6" descr="Gráfico&#10;&#10;Descripción generada automáticamente">
            <a:extLst>
              <a:ext uri="{FF2B5EF4-FFF2-40B4-BE49-F238E27FC236}">
                <a16:creationId xmlns:a16="http://schemas.microsoft.com/office/drawing/2014/main" id="{BCAE7BB6-0E66-0753-A890-0983C0C5E8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39" y="1862267"/>
            <a:ext cx="5643333" cy="3530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7182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C2BED7-2DB6-1451-EE32-97DC35100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062977B-D172-6442-B634-E39BC42D95A4}"/>
              </a:ext>
            </a:extLst>
          </p:cNvPr>
          <p:cNvSpPr txBox="1"/>
          <p:nvPr/>
        </p:nvSpPr>
        <p:spPr>
          <a:xfrm>
            <a:off x="1145894" y="16875"/>
            <a:ext cx="1233861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O" dirty="0">
              <a:solidFill>
                <a:srgbClr val="002060"/>
              </a:solidFill>
            </a:endParaRPr>
          </a:p>
          <a:p>
            <a:pPr algn="ctr"/>
            <a:r>
              <a:rPr lang="es-CO" sz="3200" b="1" dirty="0">
                <a:solidFill>
                  <a:srgbClr val="002060"/>
                </a:solidFill>
              </a:rPr>
              <a:t>   </a:t>
            </a:r>
            <a:r>
              <a:rPr lang="es-MX" sz="3200" b="1" dirty="0">
                <a:solidFill>
                  <a:srgbClr val="002060"/>
                </a:solidFill>
              </a:rPr>
              <a:t>Visualizaciones Clave y Resultados</a:t>
            </a:r>
            <a:endParaRPr lang="es-CO" dirty="0">
              <a:solidFill>
                <a:srgbClr val="002060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972A983-978E-4BA3-E497-6108AEAFC7DF}"/>
              </a:ext>
            </a:extLst>
          </p:cNvPr>
          <p:cNvSpPr txBox="1"/>
          <p:nvPr/>
        </p:nvSpPr>
        <p:spPr>
          <a:xfrm>
            <a:off x="914400" y="1914197"/>
            <a:ext cx="1313688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800" b="1" dirty="0">
                <a:solidFill>
                  <a:srgbClr val="002060"/>
                </a:solidFill>
                <a:latin typeface="Abadi Extra Light" panose="020F0502020204030204" pitchFamily="34" charset="0"/>
              </a:rPr>
              <a:t>Resultados:</a:t>
            </a:r>
          </a:p>
          <a:p>
            <a:pPr algn="just"/>
            <a:endParaRPr lang="es-MX" sz="2800" dirty="0">
              <a:solidFill>
                <a:srgbClr val="002060"/>
              </a:solidFill>
              <a:latin typeface="Abadi Extra Light" panose="020F050202020403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MX" sz="2800" b="1" dirty="0">
                <a:solidFill>
                  <a:srgbClr val="002060"/>
                </a:solidFill>
                <a:latin typeface="Abadi Extra Light" panose="020F0502020204030204" pitchFamily="34" charset="0"/>
              </a:rPr>
              <a:t>Error absoluto medio (MAE): </a:t>
            </a:r>
            <a:r>
              <a:rPr lang="es-MX" sz="2800" dirty="0">
                <a:solidFill>
                  <a:srgbClr val="002060"/>
                </a:solidFill>
                <a:latin typeface="Abadi Extra Light" panose="020F0502020204030204" pitchFamily="34" charset="0"/>
              </a:rPr>
              <a:t>214.6 </a:t>
            </a:r>
            <a:r>
              <a:rPr lang="es-MX" sz="2800" dirty="0" err="1">
                <a:solidFill>
                  <a:srgbClr val="002060"/>
                </a:solidFill>
                <a:latin typeface="Abadi Extra Light" panose="020F0502020204030204" pitchFamily="34" charset="0"/>
              </a:rPr>
              <a:t>productosEsto</a:t>
            </a:r>
            <a:r>
              <a:rPr lang="es-MX" sz="2800" dirty="0">
                <a:solidFill>
                  <a:srgbClr val="002060"/>
                </a:solidFill>
                <a:latin typeface="Abadi Extra Light" panose="020F0502020204030204" pitchFamily="34" charset="0"/>
              </a:rPr>
              <a:t> significa que, en promedio, el modelo se equivoca por unas 214 unidades vendidas cuando predice las ventas. </a:t>
            </a:r>
            <a:r>
              <a:rPr lang="es-MX" sz="2800" dirty="0" err="1">
                <a:solidFill>
                  <a:srgbClr val="002060"/>
                </a:solidFill>
                <a:latin typeface="Abadi Extra Light" panose="020F0502020204030204" pitchFamily="34" charset="0"/>
              </a:rPr>
              <a:t>Ejemplo:Si</a:t>
            </a:r>
            <a:r>
              <a:rPr lang="es-MX" sz="2800" dirty="0">
                <a:solidFill>
                  <a:srgbClr val="002060"/>
                </a:solidFill>
                <a:latin typeface="Abadi Extra Light" panose="020F0502020204030204" pitchFamily="34" charset="0"/>
              </a:rPr>
              <a:t> el modelo predice que se venderán 1.200 unidades, probablemente en realidad se vendan entre 985 y 1.415 (aproximadamente ±214).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MX" sz="2800" b="1" dirty="0">
                <a:solidFill>
                  <a:srgbClr val="002060"/>
                </a:solidFill>
                <a:latin typeface="Abadi Extra Light" panose="020F0502020204030204" pitchFamily="34" charset="0"/>
              </a:rPr>
              <a:t>R² (coeficiente de determinación): </a:t>
            </a:r>
            <a:r>
              <a:rPr lang="es-MX" sz="2800" dirty="0">
                <a:solidFill>
                  <a:srgbClr val="002060"/>
                </a:solidFill>
                <a:latin typeface="Abadi Extra Light" panose="020F0502020204030204" pitchFamily="34" charset="0"/>
              </a:rPr>
              <a:t>0.81Esto quiere decir que el modelo logra explicar el 81% de la variación en las ventas usando las variables elegidas (inventario, pedidos, precio, etc.).En términos simples: el modelo es bueno prediciendo, aunque no perfecto (100% sería un ajuste total, 0% es como adivinar).</a:t>
            </a:r>
          </a:p>
        </p:txBody>
      </p:sp>
    </p:spTree>
    <p:extLst>
      <p:ext uri="{BB962C8B-B14F-4D97-AF65-F5344CB8AC3E}">
        <p14:creationId xmlns:p14="http://schemas.microsoft.com/office/powerpoint/2010/main" val="18648145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C2BED7-2DB6-1451-EE32-97DC35100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062977B-D172-6442-B634-E39BC42D95A4}"/>
              </a:ext>
            </a:extLst>
          </p:cNvPr>
          <p:cNvSpPr txBox="1"/>
          <p:nvPr/>
        </p:nvSpPr>
        <p:spPr>
          <a:xfrm>
            <a:off x="914400" y="1053195"/>
            <a:ext cx="1233861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O" dirty="0">
              <a:solidFill>
                <a:srgbClr val="002060"/>
              </a:solidFill>
            </a:endParaRPr>
          </a:p>
          <a:p>
            <a:pPr algn="ctr"/>
            <a:r>
              <a:rPr lang="es-CO" sz="3200" b="1" dirty="0">
                <a:solidFill>
                  <a:srgbClr val="002060"/>
                </a:solidFill>
              </a:rPr>
              <a:t>   </a:t>
            </a:r>
            <a:r>
              <a:rPr lang="es-MX" sz="3200" b="1" dirty="0">
                <a:solidFill>
                  <a:srgbClr val="002060"/>
                </a:solidFill>
              </a:rPr>
              <a:t>Análisis de Datos y Modelo Implementado</a:t>
            </a:r>
            <a:endParaRPr lang="es-CO" dirty="0">
              <a:solidFill>
                <a:srgbClr val="002060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972A983-978E-4BA3-E497-6108AEAFC7DF}"/>
              </a:ext>
            </a:extLst>
          </p:cNvPr>
          <p:cNvSpPr txBox="1"/>
          <p:nvPr/>
        </p:nvSpPr>
        <p:spPr>
          <a:xfrm>
            <a:off x="1441524" y="2387824"/>
            <a:ext cx="11747351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rgbClr val="002060"/>
                </a:solidFill>
                <a:latin typeface="Abadi Extra Light" panose="020F0502020204030204" pitchFamily="34" charset="0"/>
              </a:rPr>
              <a:t>Se realizó una exploración de los datos para identificar tendencias, categorías más vendidas y posibles anomalías.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rgbClr val="002060"/>
                </a:solidFill>
                <a:latin typeface="Abadi Extra Light" panose="020F0502020204030204" pitchFamily="34" charset="0"/>
              </a:rPr>
              <a:t>Se implementó un modelo de Regresión Lineal usando variables numéricas  relevantes: nivel de inventario, unidades ordenadas, precio, descuento, competencia y promociones.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rgbClr val="002060"/>
                </a:solidFill>
                <a:latin typeface="Abadi Extra Light" panose="020F0502020204030204" pitchFamily="34" charset="0"/>
              </a:rPr>
              <a:t>El modelo fue entrenado y evaluado con métricas como MAE (Error Absoluto Medio) y R² (coeficiente de determinación).</a:t>
            </a:r>
          </a:p>
        </p:txBody>
      </p:sp>
    </p:spTree>
    <p:extLst>
      <p:ext uri="{BB962C8B-B14F-4D97-AF65-F5344CB8AC3E}">
        <p14:creationId xmlns:p14="http://schemas.microsoft.com/office/powerpoint/2010/main" val="38603286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C2BED7-2DB6-1451-EE32-97DC35100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062977B-D172-6442-B634-E39BC42D95A4}"/>
              </a:ext>
            </a:extLst>
          </p:cNvPr>
          <p:cNvSpPr txBox="1"/>
          <p:nvPr/>
        </p:nvSpPr>
        <p:spPr>
          <a:xfrm>
            <a:off x="914400" y="1053195"/>
            <a:ext cx="1233861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O" dirty="0">
              <a:solidFill>
                <a:srgbClr val="002060"/>
              </a:solidFill>
            </a:endParaRPr>
          </a:p>
          <a:p>
            <a:pPr algn="ctr"/>
            <a:r>
              <a:rPr lang="es-CO" sz="3200" b="1" dirty="0">
                <a:solidFill>
                  <a:srgbClr val="002060"/>
                </a:solidFill>
              </a:rPr>
              <a:t>   </a:t>
            </a:r>
            <a:r>
              <a:rPr lang="es-MX" sz="3200" b="1" dirty="0">
                <a:solidFill>
                  <a:srgbClr val="002060"/>
                </a:solidFill>
              </a:rPr>
              <a:t>Recomendaciones y Posible Impacto</a:t>
            </a:r>
            <a:endParaRPr lang="es-CO" dirty="0">
              <a:solidFill>
                <a:srgbClr val="002060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972A983-978E-4BA3-E497-6108AEAFC7DF}"/>
              </a:ext>
            </a:extLst>
          </p:cNvPr>
          <p:cNvSpPr txBox="1"/>
          <p:nvPr/>
        </p:nvSpPr>
        <p:spPr>
          <a:xfrm>
            <a:off x="1441524" y="2387824"/>
            <a:ext cx="1174735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MX" sz="2800" b="1" dirty="0">
                <a:solidFill>
                  <a:srgbClr val="002060"/>
                </a:solidFill>
                <a:latin typeface="Abadi Extra Light" panose="020F0502020204030204" pitchFamily="34" charset="0"/>
              </a:rPr>
              <a:t>Optimizar inventario: </a:t>
            </a:r>
            <a:r>
              <a:rPr lang="es-MX" sz="2800" dirty="0">
                <a:solidFill>
                  <a:srgbClr val="002060"/>
                </a:solidFill>
                <a:latin typeface="Abadi Extra Light" panose="020F0502020204030204" pitchFamily="34" charset="0"/>
              </a:rPr>
              <a:t>Ajustar el stock según las predicciones para evitar pérdidas por desabastecimiento o exceso de inventario.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MX" sz="2800" b="1" dirty="0">
                <a:solidFill>
                  <a:srgbClr val="002060"/>
                </a:solidFill>
                <a:latin typeface="Abadi Extra Light" panose="020F0502020204030204" pitchFamily="34" charset="0"/>
              </a:rPr>
              <a:t>Promociones inteligentes: </a:t>
            </a:r>
            <a:r>
              <a:rPr lang="es-MX" sz="2800" dirty="0">
                <a:solidFill>
                  <a:srgbClr val="002060"/>
                </a:solidFill>
                <a:latin typeface="Abadi Extra Light" panose="020F0502020204030204" pitchFamily="34" charset="0"/>
              </a:rPr>
              <a:t>Aplicar descuentos solo en productos donde realmente aumentan las ventas, evitando promociones innecesarias.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MX" sz="2800" b="1" dirty="0">
                <a:solidFill>
                  <a:srgbClr val="002060"/>
                </a:solidFill>
                <a:latin typeface="Abadi Extra Light" panose="020F0502020204030204" pitchFamily="34" charset="0"/>
              </a:rPr>
              <a:t>Impacto: </a:t>
            </a:r>
            <a:r>
              <a:rPr lang="es-MX" sz="2800" dirty="0">
                <a:solidFill>
                  <a:srgbClr val="002060"/>
                </a:solidFill>
                <a:latin typeface="Abadi Extra Light" panose="020F0502020204030204" pitchFamily="34" charset="0"/>
              </a:rPr>
              <a:t>Reducción de costos operativos, aumento de ventas y mejora en la toma de decisiones estratégicas.</a:t>
            </a:r>
          </a:p>
        </p:txBody>
      </p:sp>
    </p:spTree>
    <p:extLst>
      <p:ext uri="{BB962C8B-B14F-4D97-AF65-F5344CB8AC3E}">
        <p14:creationId xmlns:p14="http://schemas.microsoft.com/office/powerpoint/2010/main" val="29191832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C2BED7-2DB6-1451-EE32-97DC35100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E972A983-978E-4BA3-E497-6108AEAFC7DF}"/>
              </a:ext>
            </a:extLst>
          </p:cNvPr>
          <p:cNvSpPr txBox="1"/>
          <p:nvPr/>
        </p:nvSpPr>
        <p:spPr>
          <a:xfrm>
            <a:off x="1441524" y="1828426"/>
            <a:ext cx="1174735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b="1" dirty="0">
                <a:solidFill>
                  <a:srgbClr val="002060"/>
                </a:solidFill>
                <a:latin typeface="Abadi Extra Light" panose="020F0502020204030204" pitchFamily="34" charset="0"/>
              </a:rPr>
              <a:t>¡Transforma tus datos en decisiones inteligentes!</a:t>
            </a:r>
          </a:p>
          <a:p>
            <a:pPr algn="ctr"/>
            <a:endParaRPr lang="es-MX" sz="2800" b="1" dirty="0">
              <a:solidFill>
                <a:srgbClr val="002060"/>
              </a:solidFill>
              <a:latin typeface="Abadi Extra Light" panose="020F0502020204030204" pitchFamily="34" charset="0"/>
            </a:endParaRPr>
          </a:p>
          <a:p>
            <a:pPr algn="ctr"/>
            <a:r>
              <a:rPr lang="es-MX" sz="2800" dirty="0">
                <a:solidFill>
                  <a:srgbClr val="002060"/>
                </a:solidFill>
                <a:latin typeface="Abadi Extra Light" panose="020F0502020204030204" pitchFamily="34" charset="0"/>
              </a:rPr>
              <a:t>Con este modelo, tu tienda puede anticipar la demanda, optimizar recursos y potenciar las ventas.</a:t>
            </a:r>
          </a:p>
          <a:p>
            <a:pPr algn="ctr"/>
            <a:endParaRPr lang="es-MX" sz="2800" b="1" dirty="0">
              <a:solidFill>
                <a:srgbClr val="002060"/>
              </a:solidFill>
              <a:latin typeface="Abadi Extra Light" panose="020F0502020204030204" pitchFamily="34" charset="0"/>
            </a:endParaRPr>
          </a:p>
          <a:p>
            <a:pPr algn="ctr"/>
            <a:r>
              <a:rPr lang="es-MX" sz="2800" b="1" dirty="0">
                <a:solidFill>
                  <a:srgbClr val="002060"/>
                </a:solidFill>
                <a:latin typeface="Abadi Extra Light" panose="020F0502020204030204" pitchFamily="34" charset="0"/>
              </a:rPr>
              <a:t>¿Listos para llevar la gestión de inventario y promociones al siguiente nivel?</a:t>
            </a:r>
          </a:p>
          <a:p>
            <a:pPr algn="ctr"/>
            <a:endParaRPr lang="es-MX" sz="2800" b="1" dirty="0">
              <a:solidFill>
                <a:srgbClr val="002060"/>
              </a:solidFill>
              <a:latin typeface="Abadi Extra Light" panose="020F0502020204030204" pitchFamily="34" charset="0"/>
            </a:endParaRPr>
          </a:p>
          <a:p>
            <a:pPr algn="ctr"/>
            <a:r>
              <a:rPr lang="es-MX" sz="2800" dirty="0">
                <a:solidFill>
                  <a:srgbClr val="002060"/>
                </a:solidFill>
                <a:latin typeface="Abadi Extra Light" panose="020F0502020204030204" pitchFamily="34" charset="0"/>
              </a:rPr>
              <a:t>¡Implementa el modelo y comienza a ver resultados medibles desde hoy!</a:t>
            </a:r>
          </a:p>
        </p:txBody>
      </p:sp>
    </p:spTree>
    <p:extLst>
      <p:ext uri="{BB962C8B-B14F-4D97-AF65-F5344CB8AC3E}">
        <p14:creationId xmlns:p14="http://schemas.microsoft.com/office/powerpoint/2010/main" val="12863010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60F87347-A5AB-4CB6-8511-86CD54A01E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8033" y="3034800"/>
            <a:ext cx="10972800" cy="2160000"/>
          </a:xfrm>
        </p:spPr>
        <p:txBody>
          <a:bodyPr anchor="ctr" anchorCtr="0">
            <a:normAutofit/>
          </a:bodyPr>
          <a:lstStyle/>
          <a:p>
            <a:r>
              <a:rPr lang="es-ES" b="1" i="1" dirty="0">
                <a:solidFill>
                  <a:schemeClr val="bg1"/>
                </a:solidFill>
                <a:latin typeface="Roboto Black" panose="02000000000000000000"/>
              </a:rPr>
              <a:t>MUCHAS GRACIAS</a:t>
            </a:r>
            <a:endParaRPr lang="es-CO" b="1" i="1" dirty="0">
              <a:solidFill>
                <a:schemeClr val="bg1"/>
              </a:solidFill>
              <a:latin typeface="Roboto Black" panose="020000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2774456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lla">
  <a:themeElements>
    <a:clrScheme name="Malla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alla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ll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Malla</Template>
  <TotalTime>9504</TotalTime>
  <Words>535</Words>
  <Application>Microsoft Office PowerPoint</Application>
  <PresentationFormat>Personalizado</PresentationFormat>
  <Paragraphs>60</Paragraphs>
  <Slides>11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11</vt:i4>
      </vt:variant>
    </vt:vector>
  </HeadingPairs>
  <TitlesOfParts>
    <vt:vector size="21" baseType="lpstr">
      <vt:lpstr>Abadi Extra Light</vt:lpstr>
      <vt:lpstr>Calibri</vt:lpstr>
      <vt:lpstr>Aptos</vt:lpstr>
      <vt:lpstr>Century Gothic</vt:lpstr>
      <vt:lpstr>Calibri Light</vt:lpstr>
      <vt:lpstr>Arial</vt:lpstr>
      <vt:lpstr>Roboto Black</vt:lpstr>
      <vt:lpstr>Malla</vt:lpstr>
      <vt:lpstr>Tema de Office</vt:lpstr>
      <vt:lpstr>1_Tema de Office</vt:lpstr>
      <vt:lpstr>TTECH GROUP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MUCHAS GRACIAS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Darwin Rojas Valencia</cp:lastModifiedBy>
  <cp:revision>85</cp:revision>
  <dcterms:created xsi:type="dcterms:W3CDTF">2025-01-17T02:37:22Z</dcterms:created>
  <dcterms:modified xsi:type="dcterms:W3CDTF">2025-07-26T21:13:51Z</dcterms:modified>
</cp:coreProperties>
</file>